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04" autoAdjust="0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139128F-C143-4C27-B0A1-19793124F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01AC6E6-A617-4773-9CB2-FF933CA14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1316363-E0D1-4E29-A6B9-E66AC23A3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FF0907C-12FD-4192-A9EC-4393FC60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0E727D7-576F-465B-BFFD-752BF63DD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2CB0147-32C4-42A8-BC83-2AB53195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36AED28-74F9-49CE-B77B-C0CA5A831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B292EF6-33E0-4F26-9829-5AE64F8FDAA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28A8832-FEC4-4AF0-B536-ADEDA6990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3AD0FAC-F3E1-41E1-80A2-3B8526E2A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C07AC48-05AC-4E5C-9EDC-435FB08D7C8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1    QUESTION 1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7B925-71C8-4391-B1AD-39F945B4FB3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Access levels and permissions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95731F-C2A6-4C77-8C7A-C944D74EDDBF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learner has Basic access to an Azure DevOps project but cannot contribute to its repository. What should the administrator check first?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6DDF35-4B50-470C-83C2-0A47B92EBF2D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B3819-37B2-4EE8-AEF0-6C8EA699955B}"/>
              </a:ext>
            </a:extLst>
          </p:cNvPr>
          <p:cNvSpPr>
            <a:spLocks noGrp="1"/>
          </p:cNvSpPr>
          <p:nvPr/>
        </p:nvSpPr>
        <p:spPr>
          <a:xfrm>
            <a:off x="1333500" y="29241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Upgrade the learner to Basic + Test Plans.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58EC23-1A48-459A-A5D3-299F9BB457A9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9ADFA5-3BEC-4E37-AB13-806BE3646CCD}"/>
              </a:ext>
            </a:extLst>
          </p:cNvPr>
          <p:cNvSpPr>
            <a:spLocks noGrp="1"/>
          </p:cNvSpPr>
          <p:nvPr/>
        </p:nvSpPr>
        <p:spPr>
          <a:xfrm>
            <a:off x="1333500" y="365760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Check repository permissions and any explicit Deny.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D94D42-ACEB-4C27-B382-464311C0D610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72503E-4AAE-4008-B319-3C9B80AD61E8}"/>
              </a:ext>
            </a:extLst>
          </p:cNvPr>
          <p:cNvSpPr>
            <a:spLocks noGrp="1"/>
          </p:cNvSpPr>
          <p:nvPr/>
        </p:nvSpPr>
        <p:spPr>
          <a:xfrm>
            <a:off x="1333500" y="439102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Make the learner an organisation owner.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C09C43-1D7D-4096-B191-1971A6E40566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367715-9902-4299-9C42-849DFF40B9C9}"/>
              </a:ext>
            </a:extLst>
          </p:cNvPr>
          <p:cNvSpPr>
            <a:spLocks noGrp="1"/>
          </p:cNvSpPr>
          <p:nvPr/>
        </p:nvSpPr>
        <p:spPr>
          <a:xfrm>
            <a:off x="1333500" y="512445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Purchase additional Microsoft-hosted agent capacity.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4094FE-C013-4493-8A3A-8AEC995DF0DB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969C7-5FF0-424F-8154-0330C954263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395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DA8A4C5-B679-4181-94D8-4D64375F157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1    ANSWER 1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18E72C-781D-4461-92C2-B12F1E32F7A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Access levels and permissions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AD85C3-3096-4A1A-83A0-8C282D502DD0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Correct answer: 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A96213-8B20-42BA-A295-E920F2D34968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Check repository permissions and any explicit Deny.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BD8A2-BCAC-4769-B64E-6C3C2DFA8128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428AE5-B90B-40CB-8451-52AF0C7632BA}"/>
              </a:ext>
            </a:extLst>
          </p:cNvPr>
          <p:cNvSpPr>
            <a:spLocks noGrp="1"/>
          </p:cNvSpPr>
          <p:nvPr/>
        </p:nvSpPr>
        <p:spPr>
          <a:xfrm>
            <a:off x="1333500" y="304800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Test Plans access does not grant repository contribution permission.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A75329-A68F-4D9B-9060-2C9A8004FE5B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603308-9764-438D-9AF1-77C45EAE3760}"/>
              </a:ext>
            </a:extLst>
          </p:cNvPr>
          <p:cNvSpPr>
            <a:spLocks noGrp="1"/>
          </p:cNvSpPr>
          <p:nvPr/>
        </p:nvSpPr>
        <p:spPr>
          <a:xfrm>
            <a:off x="1333500" y="376237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Basic access enables features. Repository permissions determine whether the learner can contribute.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899779-DBA0-473D-975B-DD9534BD663B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61DA8D-A2A1-475D-87DE-C0E586F20BDB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Organisation ownership grants far more access than this task requires.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75B69D-27B3-4FFD-90FC-F41FF9F1A7E7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5BE415-B50E-44CB-A8B1-8DDFF10299D3}"/>
              </a:ext>
            </a:extLst>
          </p:cNvPr>
          <p:cNvSpPr>
            <a:spLocks noGrp="1"/>
          </p:cNvSpPr>
          <p:nvPr/>
        </p:nvSpPr>
        <p:spPr>
          <a:xfrm>
            <a:off x="1333500" y="519112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Agent capacity controls pipeline execution, not repository write access.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B9D636-BB4E-46C6-BC6D-6F0BD63F764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2A31C6-2E57-4460-BCD6-B70528FACC9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6807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A4A8BDB-DF86-4DD4-AEFB-C1551EC58F2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2    QUESTION 2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628226-2175-48EB-96C3-8F883C394738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Azure Repos PR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483B34-74BD-4B26-A826-F6EA5FF709B8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team uses Azure Repos Git. Every PR into main must pass a validation build before completion. Where should the team configure this requirement?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2BF872-344B-4A5D-8206-87BB83175973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A6B681-FA92-46DF-95A5-ECD4ED9B2CE6}"/>
              </a:ext>
            </a:extLst>
          </p:cNvPr>
          <p:cNvSpPr>
            <a:spLocks noGrp="1"/>
          </p:cNvSpPr>
          <p:nvPr/>
        </p:nvSpPr>
        <p:spPr>
          <a:xfrm>
            <a:off x="1333500" y="29241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Add only a YAML pr: trigger to the pipeline.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C412B7-E063-44ED-B52A-8B30C8B844C6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86EB9D-2D70-47A7-8967-A83093B2C430}"/>
              </a:ext>
            </a:extLst>
          </p:cNvPr>
          <p:cNvSpPr>
            <a:spLocks noGrp="1"/>
          </p:cNvSpPr>
          <p:nvPr/>
        </p:nvSpPr>
        <p:spPr>
          <a:xfrm>
            <a:off x="1333500" y="365760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Add a scheduled trigger for main every hour.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847EB3-0223-4FC2-892C-3CDA24C33B82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F7CEEC-474A-4AF7-80C4-FE2289112DBF}"/>
              </a:ext>
            </a:extLst>
          </p:cNvPr>
          <p:cNvSpPr>
            <a:spLocks noGrp="1"/>
          </p:cNvSpPr>
          <p:nvPr/>
        </p:nvSpPr>
        <p:spPr>
          <a:xfrm>
            <a:off x="1333500" y="439102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Run CI only after commits reach main.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A8D772-CD09-4189-9ED7-F8A8FE87A8E5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55B10F-4E66-48E8-93D3-827177DC57B7}"/>
              </a:ext>
            </a:extLst>
          </p:cNvPr>
          <p:cNvSpPr>
            <a:spLocks noGrp="1"/>
          </p:cNvSpPr>
          <p:nvPr/>
        </p:nvSpPr>
        <p:spPr>
          <a:xfrm>
            <a:off x="1333500" y="512445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Add required build validation in the main branch policy.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279F38-B763-4B17-87A6-4BCFDB6EA40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14951F-9AE2-4418-BCD6-91AFD21EF99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4113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2194AF0-9A63-452B-A109-F41EAC33177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2    ANSWER 2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C1E6AF-D37C-4F35-810B-E37DB0C0BAAB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Azure Repos PR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96651D-163A-47C1-B82F-63704CA07C0F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Correct answer: 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1CBCBF-96EF-4838-AEB4-DE84DFA9AE14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Add required build validation in the main branch policy.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5B25F6-5FE5-4291-A2FA-10A46D01A6BB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4F45C9-C3A7-43CF-9ED6-2FB752440B9A}"/>
              </a:ext>
            </a:extLst>
          </p:cNvPr>
          <p:cNvSpPr>
            <a:spLocks noGrp="1"/>
          </p:cNvSpPr>
          <p:nvPr/>
        </p:nvSpPr>
        <p:spPr>
          <a:xfrm>
            <a:off x="1333500" y="304800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Azure Repos Git PR validation uses branch policies. YAML pr: triggers do not provide this requirement.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274E6B-74BD-47EC-A000-1A4886980257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1FA072-CC29-4300-A640-ADA2228F2F6A}"/>
              </a:ext>
            </a:extLst>
          </p:cNvPr>
          <p:cNvSpPr>
            <a:spLocks noGrp="1"/>
          </p:cNvSpPr>
          <p:nvPr/>
        </p:nvSpPr>
        <p:spPr>
          <a:xfrm>
            <a:off x="1333500" y="376237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schedule does not require a successful validation for each PR.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4019CC-ABC6-4A2A-9412-8F0C9E19C562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675E5-49C7-44E0-884C-51FD29FF53F4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post-merge CI run cannot prevent completion of an unvalidated PR.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14A78C-F403-4BDC-917B-C80DBAF778F5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1A39DF-0A5C-43BB-998F-0BF3E881C489}"/>
              </a:ext>
            </a:extLst>
          </p:cNvPr>
          <p:cNvSpPr>
            <a:spLocks noGrp="1"/>
          </p:cNvSpPr>
          <p:nvPr/>
        </p:nvSpPr>
        <p:spPr>
          <a:xfrm>
            <a:off x="1333500" y="519112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Required build validation on the target branch makes the successful validation a PR completion requirement.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93014E-2962-4AEF-AA90-02F408D3A30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731CFA-9AD6-404D-B6B7-4B5BEEE40D43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8204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B3B1D6C-85C4-4A5E-828C-98CDE09766A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2    QUESTION 3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EA54A6-39F4-4EB6-B84D-5A929CF9431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Merge strategy and history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2A73A9-A818-48A2-9F78-C550F6C0F3E0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feature branch contains eight small commits. The team wants main to show one commit for the completed PR. Which completion strategy best fits?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6B12EF-8FAD-491B-BE38-C044352E7FA5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D483D3-9501-466B-915A-858ADD974458}"/>
              </a:ext>
            </a:extLst>
          </p:cNvPr>
          <p:cNvSpPr>
            <a:spLocks noGrp="1"/>
          </p:cNvSpPr>
          <p:nvPr/>
        </p:nvSpPr>
        <p:spPr>
          <a:xfrm>
            <a:off x="1333500" y="29241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Squash merge.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7A465F-6C06-40D1-9361-65E7518B668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9AED82-A796-41F4-A7A3-DD4FAF27ADB9}"/>
              </a:ext>
            </a:extLst>
          </p:cNvPr>
          <p:cNvSpPr>
            <a:spLocks noGrp="1"/>
          </p:cNvSpPr>
          <p:nvPr/>
        </p:nvSpPr>
        <p:spPr>
          <a:xfrm>
            <a:off x="1333500" y="365760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Merge with a merge commit.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541174-D512-4896-80A2-363EF7FE048D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7CD82D-B543-44AC-A6D2-28E68660609A}"/>
              </a:ext>
            </a:extLst>
          </p:cNvPr>
          <p:cNvSpPr>
            <a:spLocks noGrp="1"/>
          </p:cNvSpPr>
          <p:nvPr/>
        </p:nvSpPr>
        <p:spPr>
          <a:xfrm>
            <a:off x="1333500" y="439102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Rebase and fast-forward all eight commits.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770F78-08BE-48E6-944C-2889CB471C43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12CF8D-298F-43E5-8B03-B12696E59553}"/>
              </a:ext>
            </a:extLst>
          </p:cNvPr>
          <p:cNvSpPr>
            <a:spLocks noGrp="1"/>
          </p:cNvSpPr>
          <p:nvPr/>
        </p:nvSpPr>
        <p:spPr>
          <a:xfrm>
            <a:off x="1333500" y="512445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Cherry-pick all eight commits individually.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A6BB10-4A09-4C38-A819-CEEA23E51B9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957203-E334-4B48-99B3-03EFF491E76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89806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0FFF5D7-B5EB-4E0E-A86C-9EC6CA0020C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2    ANSWER 3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20F05F-2DDB-4981-A4AE-3888DDBCA26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Merge strategy and history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9C94D5-B5E1-4817-BFD0-17CCFE4C56F1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Correct answer: 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E2C0CD-B2CF-41E3-A159-B6159588E804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Squash merge.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59D0F-CF53-4E43-810E-95273937FE31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869334-7F0D-4605-806E-902C68C40A39}"/>
              </a:ext>
            </a:extLst>
          </p:cNvPr>
          <p:cNvSpPr>
            <a:spLocks noGrp="1"/>
          </p:cNvSpPr>
          <p:nvPr/>
        </p:nvSpPr>
        <p:spPr>
          <a:xfrm>
            <a:off x="1333500" y="304800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Squash merge combines the PR changes into one commit on the target branch.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E31DC0-4192-4CAD-A3C7-FB8E028BF8A0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15AFBA-460F-4009-8904-36A20F804EEE}"/>
              </a:ext>
            </a:extLst>
          </p:cNvPr>
          <p:cNvSpPr>
            <a:spLocks noGrp="1"/>
          </p:cNvSpPr>
          <p:nvPr/>
        </p:nvSpPr>
        <p:spPr>
          <a:xfrm>
            <a:off x="1333500" y="376237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merge commit retains the individual feature commits in the resulting history.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2A7161-C420-4CB2-8E57-5CC845DFC6B5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E7AEF6-901E-4798-B899-76D002F7B43D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Rebasing and fast-forwarding preserves the eight individual commits.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48508F-0824-40B8-A034-41E47340E5B9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F520A3-6863-4F8F-B89A-350BB0992148}"/>
              </a:ext>
            </a:extLst>
          </p:cNvPr>
          <p:cNvSpPr>
            <a:spLocks noGrp="1"/>
          </p:cNvSpPr>
          <p:nvPr/>
        </p:nvSpPr>
        <p:spPr>
          <a:xfrm>
            <a:off x="1333500" y="519112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Cherry-picking each commit creates separate commits and is not the intended PR completion strategy.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6765EB-5867-45F0-ADF4-B213D3D476F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F1B447-549C-451F-BD56-B18CB0D4B06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5830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2E2E354-677B-4125-8896-E0307317666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3    QUESTION 4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EB5DDB-17CD-462A-A4BB-D21B1EF7A32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Conditions after a failed test job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367214-8A50-4A5E-8261-1213110280CE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YAML job has dependsOn: Tests and condition: always(). The Tests job finishes with result Failed. The run is not cancelled. What does this configuration allow?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1815B5-3ECA-42D5-9634-252A20B12ACC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6D8921-0D8B-464B-A0FB-AE0BD4EC9C1D}"/>
              </a:ext>
            </a:extLst>
          </p:cNvPr>
          <p:cNvSpPr>
            <a:spLocks noGrp="1"/>
          </p:cNvSpPr>
          <p:nvPr/>
        </p:nvSpPr>
        <p:spPr>
          <a:xfrm>
            <a:off x="1333500" y="29241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The dependent job must wait until Tests succeeds.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DD84F6-043B-442B-8478-D77D9301523A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4C4FB4-8776-4B2A-AC4B-AB8D57035F10}"/>
              </a:ext>
            </a:extLst>
          </p:cNvPr>
          <p:cNvSpPr>
            <a:spLocks noGrp="1"/>
          </p:cNvSpPr>
          <p:nvPr/>
        </p:nvSpPr>
        <p:spPr>
          <a:xfrm>
            <a:off x="1333500" y="365760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The dependent job automatically turns the run green.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20C328-9179-407D-8A2D-A91CA01D4969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05A3E1-122D-4077-B58B-579183681050}"/>
              </a:ext>
            </a:extLst>
          </p:cNvPr>
          <p:cNvSpPr>
            <a:spLocks noGrp="1"/>
          </p:cNvSpPr>
          <p:nvPr/>
        </p:nvSpPr>
        <p:spPr>
          <a:xfrm>
            <a:off x="1333500" y="439102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The dependent job can run after Tests finishes despite its failure.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4D0F86-9046-4D11-B7FC-3CC77BD0A58D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2A1804-C6FD-411E-966B-87D980CC90D4}"/>
              </a:ext>
            </a:extLst>
          </p:cNvPr>
          <p:cNvSpPr>
            <a:spLocks noGrp="1"/>
          </p:cNvSpPr>
          <p:nvPr/>
        </p:nvSpPr>
        <p:spPr>
          <a:xfrm>
            <a:off x="1333500" y="512445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The dependent job runs before Tests because always() removes ordering.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A27E69-7EBA-48E7-84D4-639A3146C1A5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D9DAD9-B3CF-444E-8B1A-25107DA2104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46937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BB1D4D0-39CA-4065-86A4-80E7E4E2C54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3    ANSWER 4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C58A86-2B3A-4547-BBC2-5CD31783558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Conditions after a failed test job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38F922-983E-4314-BEFA-5338258ECAAC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Correct answer: 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532A9-6271-4AEC-8B27-DA60B8D22461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The dependent job can run after Tests finishes despite its failure.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C6D021-38A3-4AE4-88DA-00742BA494FE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4D301D-5EEF-49D8-888A-6ADBC8EDF155}"/>
              </a:ext>
            </a:extLst>
          </p:cNvPr>
          <p:cNvSpPr>
            <a:spLocks noGrp="1"/>
          </p:cNvSpPr>
          <p:nvPr/>
        </p:nvSpPr>
        <p:spPr>
          <a:xfrm>
            <a:off x="1333500" y="304800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The explicit always() condition allows execution after a failed dependency.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1A2428-DBDC-48D1-B32F-4B9BF9683EAC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9581FC-391D-4AEF-81BC-5993A4940A10}"/>
              </a:ext>
            </a:extLst>
          </p:cNvPr>
          <p:cNvSpPr>
            <a:spLocks noGrp="1"/>
          </p:cNvSpPr>
          <p:nvPr/>
        </p:nvSpPr>
        <p:spPr>
          <a:xfrm>
            <a:off x="1333500" y="376237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Running a cleanup or reporting job does not erase the earlier failure.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5A5D8B-5ADE-4F69-B122-4F1B2F894597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74D091-F7B5-4138-A3F4-B364730619FB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dependsOn preserves ordering. always() allows the job to run after that dependency fails.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154D6C-4277-461B-9798-83F476C71C7A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05470A-FA25-4431-B7B9-BD3EED57231D}"/>
              </a:ext>
            </a:extLst>
          </p:cNvPr>
          <p:cNvSpPr>
            <a:spLocks noGrp="1"/>
          </p:cNvSpPr>
          <p:nvPr/>
        </p:nvSpPr>
        <p:spPr>
          <a:xfrm>
            <a:off x="1333500" y="519112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Conditions control eligibility. dependsOn still controls execution order.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948158-4C73-481E-8C10-3237B7ED5F1A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C5E770-1C52-4C0C-B07F-7FC3D55F2AD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5494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C7BBE0A-39D9-4030-AB39-D14C5953B3F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3    QUESTION 5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3609DA-B684-476D-B2CF-D91F266F73A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Dependency caching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2E140B-7AC4-4DA7-9E7D-A89892A99A2B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Python pipeline restores its pip download cache using a key derived from the dependency file. What should the pipeline do next?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FF35D4-9305-4309-AE98-5BAFE9F7A825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6C1E89-B28A-45DB-BA36-5324E1770749}"/>
              </a:ext>
            </a:extLst>
          </p:cNvPr>
          <p:cNvSpPr>
            <a:spLocks noGrp="1"/>
          </p:cNvSpPr>
          <p:nvPr/>
        </p:nvSpPr>
        <p:spPr>
          <a:xfrm>
            <a:off x="1333500" y="29241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Skip dependency installation whenever the cache reports a hit.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946A64-52AD-406E-8BE9-6E3F35505653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956D1-9666-48EC-B355-A244D9A86EDE}"/>
              </a:ext>
            </a:extLst>
          </p:cNvPr>
          <p:cNvSpPr>
            <a:spLocks noGrp="1"/>
          </p:cNvSpPr>
          <p:nvPr/>
        </p:nvSpPr>
        <p:spPr>
          <a:xfrm>
            <a:off x="1333500" y="365760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Run pip install against the pinned dependency file.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48C894-6618-48C4-9EE9-9C96477D2B9F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0B512B-6901-4478-89C7-B9E3FBB0468C}"/>
              </a:ext>
            </a:extLst>
          </p:cNvPr>
          <p:cNvSpPr>
            <a:spLocks noGrp="1"/>
          </p:cNvSpPr>
          <p:nvPr/>
        </p:nvSpPr>
        <p:spPr>
          <a:xfrm>
            <a:off x="1333500" y="439102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Publish the pip cache as the deployable application artifact.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96FBA-F68B-498D-8206-7FA673A0C5CF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D08357-E80F-476A-9B29-B5A0EB458D6A}"/>
              </a:ext>
            </a:extLst>
          </p:cNvPr>
          <p:cNvSpPr>
            <a:spLocks noGrp="1"/>
          </p:cNvSpPr>
          <p:nvPr/>
        </p:nvSpPr>
        <p:spPr>
          <a:xfrm>
            <a:off x="1333500" y="512445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Keep using the previous cache key after dependencies change.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AA94AA-3E2A-4A7A-A331-004DEC7F40E4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FC82A6-872E-46F2-8EC9-9329361FACB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97336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A20D9C-2841-457D-A2FA-61F3B4E630E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3    ANSWER 5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0DD8D-65EA-442D-A0F2-C906E6B0CCC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Dependency caching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A19599-2D56-4BA4-92DF-928536C575B9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Correct answer: 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A14ED-6188-4873-AB93-EDA5D9DB3C1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Run pip install against the pinned dependency file.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6BFB7A-73A6-4B69-8A4E-7C928DCAA8EC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2BDA47-DEAD-4A16-B69A-183AC6367B24}"/>
              </a:ext>
            </a:extLst>
          </p:cNvPr>
          <p:cNvSpPr>
            <a:spLocks noGrp="1"/>
          </p:cNvSpPr>
          <p:nvPr/>
        </p:nvSpPr>
        <p:spPr>
          <a:xfrm>
            <a:off x="1333500" y="304800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download cache does not prove that packages are installed in the current job environment.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036262-16DF-4484-B3AB-BCE20A5ACE21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53C515-0CF6-4D1A-8803-93C588C6BC23}"/>
              </a:ext>
            </a:extLst>
          </p:cNvPr>
          <p:cNvSpPr>
            <a:spLocks noGrp="1"/>
          </p:cNvSpPr>
          <p:nvPr/>
        </p:nvSpPr>
        <p:spPr>
          <a:xfrm>
            <a:off x="1333500" y="376237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Installation uses cached downloads where possible and establishes the required environment for this job.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67AFD-466B-4BE3-8B1D-2AF231AED9F7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DB1F46-EE73-4504-94E5-7CFB6C2D04C5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package download cache is not the packaged application intended for deployment.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BBD443-26BB-45A7-B7E2-3D3F95DB0EE4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720476-F1DC-4172-AE71-09C852F10322}"/>
              </a:ext>
            </a:extLst>
          </p:cNvPr>
          <p:cNvSpPr>
            <a:spLocks noGrp="1"/>
          </p:cNvSpPr>
          <p:nvPr/>
        </p:nvSpPr>
        <p:spPr>
          <a:xfrm>
            <a:off x="1333500" y="519112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dependency-sensitive key should change when the dependency file changes.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8ACC8D-3F00-4ADB-A60B-C6899A951EF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CA112B-DEC1-4BED-A9F0-1238A7F6E463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1941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08F639C-FADD-4CEE-BED3-19977EFAE3C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4    QUESTION 6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B7E57F-D48E-4A92-8B20-8E8B240C0A3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Enforcing a quality gate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697DA8-64F2-4493-AB2C-E92C12315EB6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The pipeline publishes test results and a Sonar report. Its coverage is below the agreed threshold, but the build succeeds. What change actually enforces the release policy?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3817E6-161E-490F-8684-93DDA8A8723F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5F352-B91C-4219-83C1-F58F4D5A6BB0}"/>
              </a:ext>
            </a:extLst>
          </p:cNvPr>
          <p:cNvSpPr>
            <a:spLocks noGrp="1"/>
          </p:cNvSpPr>
          <p:nvPr/>
        </p:nvSpPr>
        <p:spPr>
          <a:xfrm>
            <a:off x="1333500" y="29241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Add the coverage percentage to the pipeline display name.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36B88A-AC14-41F9-AA9D-735D6F9B3FA2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9507FB-A1C9-43BD-BB21-2026F8D9BE44}"/>
              </a:ext>
            </a:extLst>
          </p:cNvPr>
          <p:cNvSpPr>
            <a:spLocks noGrp="1"/>
          </p:cNvSpPr>
          <p:nvPr/>
        </p:nvSpPr>
        <p:spPr>
          <a:xfrm>
            <a:off x="1333500" y="365760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Ask the AI assistant to describe the coverage gap.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1FC2F3-F8D2-4711-AEFD-A0B9F02470BB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E83EF2-A513-4ABD-A96D-CCA619E830D1}"/>
              </a:ext>
            </a:extLst>
          </p:cNvPr>
          <p:cNvSpPr>
            <a:spLocks noGrp="1"/>
          </p:cNvSpPr>
          <p:nvPr/>
        </p:nvSpPr>
        <p:spPr>
          <a:xfrm>
            <a:off x="1333500" y="439102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Set continueOnError: true on the failing quality check.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10323B-028E-4D8B-B24D-C8953F50691A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9485B1-D7C1-407D-BC1C-C59E8CBBACAA}"/>
              </a:ext>
            </a:extLst>
          </p:cNvPr>
          <p:cNvSpPr>
            <a:spLocks noGrp="1"/>
          </p:cNvSpPr>
          <p:nvPr/>
        </p:nvSpPr>
        <p:spPr>
          <a:xfrm>
            <a:off x="1333500" y="512445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Make the threshold check fail and require that result before promotion.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F8FA06-C795-44BF-A858-68969BCACA9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5E9B18-11A9-4FFD-B4A3-A3C272E8C2DE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0710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7148B13-1EC4-4B53-9B73-216A798B885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4    ANSWER 6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4F421F-802D-4A66-AAE9-4365A778489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Enforcing a quality gate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2B7BFA-38E4-441E-9899-6E7DB95C0F04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Correct answer: 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9E0C15-E791-4CFE-AC81-84F13A535196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Make the threshold check fail and require that result before promotion.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52D0A2-8AF1-414D-AD1A-CA7EB762B352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AED6A9-4822-4932-92A5-92133D122304}"/>
              </a:ext>
            </a:extLst>
          </p:cNvPr>
          <p:cNvSpPr>
            <a:spLocks noGrp="1"/>
          </p:cNvSpPr>
          <p:nvPr/>
        </p:nvSpPr>
        <p:spPr>
          <a:xfrm>
            <a:off x="1333500" y="304800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display name communicates a result but does not block low-quality changes.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10B69B-D05D-439B-837C-0B06E9EA94FE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A7D93B-B2FE-4FA2-9215-0B32A5BFB69B}"/>
              </a:ext>
            </a:extLst>
          </p:cNvPr>
          <p:cNvSpPr>
            <a:spLocks noGrp="1"/>
          </p:cNvSpPr>
          <p:nvPr/>
        </p:nvSpPr>
        <p:spPr>
          <a:xfrm>
            <a:off x="1333500" y="376237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An AI explanation supports review but does not enforce a threshold.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1AB3FF-E490-4255-BFBD-60E178ADE791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25D49D-4E7F-4494-93B5-38CD1F8C56A2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continueOnError weakens the blocking behaviour required by the policy.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40F059-F120-4423-B4A7-1D367D153324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B1D3DC-63F9-4943-B347-0D6D445728CA}"/>
              </a:ext>
            </a:extLst>
          </p:cNvPr>
          <p:cNvSpPr>
            <a:spLocks noGrp="1"/>
          </p:cNvSpPr>
          <p:nvPr/>
        </p:nvSpPr>
        <p:spPr>
          <a:xfrm>
            <a:off x="1333500" y="519112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The check must produce a failure that the dependent promotion stage cannot bypass through its normal conditions.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90272B-8B6D-4953-A17A-38454D468039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B9E4A3-9D4C-4818-983F-32237468A88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2187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DB700FB-4C39-49DE-9149-0268C06DCA8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5    QUESTION 7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13BF73-BA8D-45D5-8D5E-C0C6E47D4BFB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Artifact promotion and approvals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7B8C58-FDEE-4B16-AB29-49D5DC69FAA0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Version 1.0.27 passes testing in dev. Production promotion requires a human approval. Which approach gives the strongest confidence that production receives the tested package?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3D548A-17E3-4DC6-810E-18B07B125B88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3904D6-1E4D-42E9-8098-5E3604F19B06}"/>
              </a:ext>
            </a:extLst>
          </p:cNvPr>
          <p:cNvSpPr>
            <a:spLocks noGrp="1"/>
          </p:cNvSpPr>
          <p:nvPr/>
        </p:nvSpPr>
        <p:spPr>
          <a:xfrm>
            <a:off x="1333500" y="29241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Promote the same stored artifact through the approval-controlled stage.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93D40D-B3C1-48E1-B3AA-A7D7B8F8CE21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EE771C-DE4B-4640-815B-79360FFF469D}"/>
              </a:ext>
            </a:extLst>
          </p:cNvPr>
          <p:cNvSpPr>
            <a:spLocks noGrp="1"/>
          </p:cNvSpPr>
          <p:nvPr/>
        </p:nvSpPr>
        <p:spPr>
          <a:xfrm>
            <a:off x="1333500" y="365760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Rebuild from main after the approver accepts the release.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6BB94F-ABDC-4B8B-BBA8-BA74E56BF1E2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7329D1-3E8A-404D-A4E7-3213C1EF56C4}"/>
              </a:ext>
            </a:extLst>
          </p:cNvPr>
          <p:cNvSpPr>
            <a:spLocks noGrp="1"/>
          </p:cNvSpPr>
          <p:nvPr/>
        </p:nvSpPr>
        <p:spPr>
          <a:xfrm>
            <a:off x="1333500" y="439102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Build on the approver’s workstation and upload that package.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5BB878-0234-43E5-9A78-9A401ED5F7EA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06CDCA-6A65-4149-9E67-472CDAAD3A7A}"/>
              </a:ext>
            </a:extLst>
          </p:cNvPr>
          <p:cNvSpPr>
            <a:spLocks noGrp="1"/>
          </p:cNvSpPr>
          <p:nvPr/>
        </p:nvSpPr>
        <p:spPr>
          <a:xfrm>
            <a:off x="1333500" y="512445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Download the latest successful artifact without checking its run ID.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FD46BB-3E42-4F0D-8280-4D7343DE2B9B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6304B-5F20-435B-B701-3AD67B85512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67965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338A32D-3F30-4A81-A90D-F939B151951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5    ANSWER 7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749B7F-8802-432C-872A-A635C03BBBDE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Artifact promotion and approvals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55DD01-EBCA-402B-9808-00CE81CBABA9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Correct answer: 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6E5F40-7AB4-4DCF-89D1-FB82813EE22C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Promote the same stored artifact through the approval-controlled stage.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EBD7EC-2C79-4702-952B-1B708186E304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6B07E1-4E34-46F4-AF91-386F93B1E04A}"/>
              </a:ext>
            </a:extLst>
          </p:cNvPr>
          <p:cNvSpPr>
            <a:spLocks noGrp="1"/>
          </p:cNvSpPr>
          <p:nvPr/>
        </p:nvSpPr>
        <p:spPr>
          <a:xfrm>
            <a:off x="1333500" y="304800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Promoting the same versioned artifact preserves the tested package while the approval controls promotion.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9C604F-2553-496A-935D-294151A03A5E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6C0DB4-AA31-4922-AFA2-1E15446D972D}"/>
              </a:ext>
            </a:extLst>
          </p:cNvPr>
          <p:cNvSpPr>
            <a:spLocks noGrp="1"/>
          </p:cNvSpPr>
          <p:nvPr/>
        </p:nvSpPr>
        <p:spPr>
          <a:xfrm>
            <a:off x="1333500" y="376237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Rebuilding can change dependencies or outputs and creates a different candidate.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3C8A7-B7E2-4D46-962C-472303B90300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F4743A-619D-45BF-9DBE-8FEB12FD84EF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workstation build introduces another environment and does not establish equivalence to the tested artifact.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6FAA94-D903-4DD4-8462-7849D02DE43C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81B73-14C0-416F-B0CF-BCD5B43D9F17}"/>
              </a:ext>
            </a:extLst>
          </p:cNvPr>
          <p:cNvSpPr>
            <a:spLocks noGrp="1"/>
          </p:cNvSpPr>
          <p:nvPr/>
        </p:nvSpPr>
        <p:spPr>
          <a:xfrm>
            <a:off x="1333500" y="519112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Latest can refer to a different run. Select the approved candidate explicitly.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B7282D-DC50-4232-B877-1E20207C2094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560A00-0931-4BF0-93F6-01A72E3BE80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00141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CBB47C-4AE8-4E57-BE29-75365E6F003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6    QUESTION 8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B4033-2489-49CA-A874-7138A25417D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Bicep and secret handling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8B100B-5D39-4805-A0B2-B786F9F0F93A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Bicep deployment pipeline needs an application secret from Azure Key Vault. Which setup best follows the secure-pipeline approach taught in Module 6?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FD50D4-D61D-4260-BF56-9301C55DEDFB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AF4FFA-7F70-412E-AF3A-10CB14E04E0E}"/>
              </a:ext>
            </a:extLst>
          </p:cNvPr>
          <p:cNvSpPr>
            <a:spLocks noGrp="1"/>
          </p:cNvSpPr>
          <p:nvPr/>
        </p:nvSpPr>
        <p:spPr>
          <a:xfrm>
            <a:off x="1333500" y="29241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Commit the secret to the Bicep parameter file for repeatability.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FF54DC-5CED-4E0F-8295-D9D743D191C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2D653B-8443-4B50-81FB-0AE3781930E1}"/>
              </a:ext>
            </a:extLst>
          </p:cNvPr>
          <p:cNvSpPr>
            <a:spLocks noGrp="1"/>
          </p:cNvSpPr>
          <p:nvPr/>
        </p:nvSpPr>
        <p:spPr>
          <a:xfrm>
            <a:off x="1333500" y="365760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Grant Owner on the subscription to every learner.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A4462B-390D-4472-96F3-A64C3272C2AC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AB31BA-5361-4E88-9EAC-561F3518F19B}"/>
              </a:ext>
            </a:extLst>
          </p:cNvPr>
          <p:cNvSpPr>
            <a:spLocks noGrp="1"/>
          </p:cNvSpPr>
          <p:nvPr/>
        </p:nvSpPr>
        <p:spPr>
          <a:xfrm>
            <a:off x="1333500" y="439102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Use a scoped service identity and pass the secret without printing it.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3BA404-B0F2-4901-B19A-93F67FE78EE2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E0111-F2B2-49B6-B82B-729F71206146}"/>
              </a:ext>
            </a:extLst>
          </p:cNvPr>
          <p:cNvSpPr>
            <a:spLocks noGrp="1"/>
          </p:cNvSpPr>
          <p:nvPr/>
        </p:nvSpPr>
        <p:spPr>
          <a:xfrm>
            <a:off x="1333500" y="512445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Print the secret during deployment so reviewers can validate it.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CC302A-25F6-4AF8-BE08-23AC683E837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8693D8-F290-40F4-991B-72F1A862464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54025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4EFDB3C-09C0-44EE-A3B2-3131B69C8B8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6    ANSWER 8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A5C315-3415-4C2A-A1EB-E606CC27D11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Bicep and secret handling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AD1895-FF36-4E3B-87B2-D85DF7C5DEC3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Correct answer: 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5982F-F76F-4036-B160-598BA1DE15BF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Use a scoped service identity and pass the secret without printing 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65E500-D5CE-4FB8-B2E9-8CA531D5F38D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35395-B463-4382-81F9-0B033D7CEEE5}"/>
              </a:ext>
            </a:extLst>
          </p:cNvPr>
          <p:cNvSpPr>
            <a:spLocks noGrp="1"/>
          </p:cNvSpPr>
          <p:nvPr/>
        </p:nvSpPr>
        <p:spPr>
          <a:xfrm>
            <a:off x="1333500" y="304800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Committing a secret exposes it through source control and its history.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7E9711-BAC1-4183-8673-65FF1849B01F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4C59DC-8C98-4DA9-B610-DE451BA20BD7}"/>
              </a:ext>
            </a:extLst>
          </p:cNvPr>
          <p:cNvSpPr>
            <a:spLocks noGrp="1"/>
          </p:cNvSpPr>
          <p:nvPr/>
        </p:nvSpPr>
        <p:spPr>
          <a:xfrm>
            <a:off x="1333500" y="376237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Subscription-wide Owner permissions exceed the access required by this deployment.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8323D4-44D4-4521-99C7-FD06495EFFF8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9CF2DA-CE7C-4755-AC00-9A48DCE1A2D4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Scope deployment and secret-access permissions to the required resources, then use approved secret handling.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734EE4-1B24-4A1D-958E-29B0AA4F37B9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7E7339-2C1A-4A58-89A9-88AAB8D00B32}"/>
              </a:ext>
            </a:extLst>
          </p:cNvPr>
          <p:cNvSpPr>
            <a:spLocks noGrp="1"/>
          </p:cNvSpPr>
          <p:nvPr/>
        </p:nvSpPr>
        <p:spPr>
          <a:xfrm>
            <a:off x="1333500" y="519112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Logs can retain and expose credentials. Validate access and behaviour without revealing the value.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98E7AF-33D3-4E46-A0DC-239B1BEEFFB3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D8C1B3-6BDC-47B7-9E30-E4EEDAF6E82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47362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7CD05D-F4E9-4CD6-ADC7-425B5CCA86E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7    QUESTION 9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BDF8C4-D9A5-43DF-AC5E-B1767039285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AI-generated test assertions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03FFC1-D9CD-4965-B51B-D15D30EE27FD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The requirement says negative quantity must raise ValueError. Copilot generates a test expecting a total of -20.00 for quantity -2 and price 10.00. The test passes. What is the best response?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C8F2DC-65F8-419F-9C0C-AC6B52F5BA47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04559-EF9A-41B6-AEAF-02447118A7DD}"/>
              </a:ext>
            </a:extLst>
          </p:cNvPr>
          <p:cNvSpPr>
            <a:spLocks noGrp="1"/>
          </p:cNvSpPr>
          <p:nvPr/>
        </p:nvSpPr>
        <p:spPr>
          <a:xfrm>
            <a:off x="1333500" y="29241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Accept the test because it matches the current implementation.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C1CA97-3E62-4C0D-BABD-F01300534F1A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338434-A8B2-406F-A8BD-67CF08AA3C85}"/>
              </a:ext>
            </a:extLst>
          </p:cNvPr>
          <p:cNvSpPr>
            <a:spLocks noGrp="1"/>
          </p:cNvSpPr>
          <p:nvPr/>
        </p:nvSpPr>
        <p:spPr>
          <a:xfrm>
            <a:off x="1333500" y="365760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Change the requirement to preserve the passing test.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8BDBD1-1459-4FDB-97C6-79EC8E429883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6FF52B-749A-46A0-B79E-C39F7C6AC540}"/>
              </a:ext>
            </a:extLst>
          </p:cNvPr>
          <p:cNvSpPr>
            <a:spLocks noGrp="1"/>
          </p:cNvSpPr>
          <p:nvPr/>
        </p:nvSpPr>
        <p:spPr>
          <a:xfrm>
            <a:off x="1333500" y="439102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Add more tests using the same negative-total expectation.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DD31E5-6E94-4230-94F8-A6C522DC075B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AFB958-7E4F-4A9A-B69D-5AE90E4FA4D0}"/>
              </a:ext>
            </a:extLst>
          </p:cNvPr>
          <p:cNvSpPr>
            <a:spLocks noGrp="1"/>
          </p:cNvSpPr>
          <p:nvPr/>
        </p:nvSpPr>
        <p:spPr>
          <a:xfrm>
            <a:off x="1333500" y="512445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Correct the expected behaviour, observe the failing test, then fix the code.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5ABB12-B8DF-4B17-89CD-88FDD0803275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5F5EDD-519D-41AB-BD65-95D5A8050CB3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41624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646924E-AF08-48DE-9CFF-FFE9410D402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7    ANSWER 9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70BF48-EF02-4E44-A8A8-E783689CB6C4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AI-generated test assertions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A47525-7A3B-4D99-A6AF-8EBF1E5B6865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Correct answer: 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D2A04-C1C0-484C-8E09-D439D731107B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Correct the expected behaviour, observe the failing test, then fix the code.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8E5748-C26B-4116-A51F-DF51E1D4514F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107D89-F010-45D8-B513-3139063E8C42}"/>
              </a:ext>
            </a:extLst>
          </p:cNvPr>
          <p:cNvSpPr>
            <a:spLocks noGrp="1"/>
          </p:cNvSpPr>
          <p:nvPr/>
        </p:nvSpPr>
        <p:spPr>
          <a:xfrm>
            <a:off x="1333500" y="304800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The implementation contains the defect. Matching it does not validate the requirement.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673E2C-FB76-485A-A01B-E39CFF60168A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8A984F-B556-4F63-AC6C-3EECF2980F7E}"/>
              </a:ext>
            </a:extLst>
          </p:cNvPr>
          <p:cNvSpPr>
            <a:spLocks noGrp="1"/>
          </p:cNvSpPr>
          <p:nvPr/>
        </p:nvSpPr>
        <p:spPr>
          <a:xfrm>
            <a:off x="1333500" y="376237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A generated test is not authority to change an agreed acceptance criterion.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E274B-7117-463F-B7A9-7FC5C1B1BD0A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63557-A6F4-4734-81D7-9CC1EAD3EC9F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Repeating the incorrect expectation increases test count without improving correctness.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9135D6-2CE9-4204-9799-183F18819423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C48E04-2EA7-4A0F-8EE8-FC41CFADADFD}"/>
              </a:ext>
            </a:extLst>
          </p:cNvPr>
          <p:cNvSpPr>
            <a:spLocks noGrp="1"/>
          </p:cNvSpPr>
          <p:nvPr/>
        </p:nvSpPr>
        <p:spPr>
          <a:xfrm>
            <a:off x="1333500" y="519112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Use the acceptance criterion as the test oracle. Confirm the corrected test exposes the defect before implementing the fix.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A283C8-D18C-4092-9CE0-8DB87B571877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D1FCC1-8F49-46B1-9A69-20F0986CF35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37456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AEA054F-6A09-4AD7-8EA8-2892EFAAD3A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7    QUESTION 10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8B12D9-4BA6-4BD9-A910-533B4561F92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AI-assisted review and scope control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034D1C-AB54-4259-BA77-A0B0192F76BC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You ask Copilot to update tests only. All tests pass, but git diff shows a production-code change too. An Azure OpenAI summary calls it low risk. What should happen before merge?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BDA32E-46B7-46CA-B402-3534B213E944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30916B-E139-4CEC-8FE7-C8C4A87B5428}"/>
              </a:ext>
            </a:extLst>
          </p:cNvPr>
          <p:cNvSpPr>
            <a:spLocks noGrp="1"/>
          </p:cNvSpPr>
          <p:nvPr/>
        </p:nvSpPr>
        <p:spPr>
          <a:xfrm>
            <a:off x="1333500" y="292417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Merge because both AI tools support the change.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349179-2369-4A75-BFF2-8CF88F485B9A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79E808-6AEA-467A-9B24-D1058B91F5CD}"/>
              </a:ext>
            </a:extLst>
          </p:cNvPr>
          <p:cNvSpPr>
            <a:spLocks noGrp="1"/>
          </p:cNvSpPr>
          <p:nvPr/>
        </p:nvSpPr>
        <p:spPr>
          <a:xfrm>
            <a:off x="1333500" y="365760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Inspect the full diff, review the scope change and satisfy human PR checks.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9CB80F-360F-4507-B62E-0DF612153A91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0A7193-8B12-49C4-A88D-FE7826690C1D}"/>
              </a:ext>
            </a:extLst>
          </p:cNvPr>
          <p:cNvSpPr>
            <a:spLocks noGrp="1"/>
          </p:cNvSpPr>
          <p:nvPr/>
        </p:nvSpPr>
        <p:spPr>
          <a:xfrm>
            <a:off x="1333500" y="4391025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Delete the diff output so reviewers focus on test results.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AD75B5-FF97-47C2-BA39-FE3B9F9FBC99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5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EA3771-40C9-42BB-AF07-C9E34D396329}"/>
              </a:ext>
            </a:extLst>
          </p:cNvPr>
          <p:cNvSpPr>
            <a:spLocks noGrp="1"/>
          </p:cNvSpPr>
          <p:nvPr/>
        </p:nvSpPr>
        <p:spPr>
          <a:xfrm>
            <a:off x="1333500" y="5124450"/>
            <a:ext cx="1009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Give the AI assistant permission to approve its own PR.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0D3BC7-BDB8-46C3-AE99-A70DD07452E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AC4416-9549-490B-ABB1-80FF40F7728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96452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F354F83-7411-4B8A-9180-DFBD5AB22C3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MODULE 7    ANSWER 10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67B1A2-C2C3-4A74-B11D-6CDB789D655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346"/>
                </a:solidFill>
                <a:latin typeface="DejaVu Sans"/>
                <a:ea typeface="DejaVu Sans"/>
                <a:cs typeface="DejaVu Sans"/>
              </a:rPr>
              <a:t>AI-assisted review and scope control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D4EF07-18BC-47A9-97CD-9B588EBE4088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Correct answer: 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531E29-051E-4050-928B-8A58440829C9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Inspect the full diff, review the scope change and satisfy human PR checks.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0E4A0D-AF53-4DEC-838D-B3161118533D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C36203-3A59-4CFF-A2A3-FBE451AB3DF4}"/>
              </a:ext>
            </a:extLst>
          </p:cNvPr>
          <p:cNvSpPr>
            <a:spLocks noGrp="1"/>
          </p:cNvSpPr>
          <p:nvPr/>
        </p:nvSpPr>
        <p:spPr>
          <a:xfrm>
            <a:off x="1333500" y="304800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Passing tests and an AI summary do not establish that an unrequested edit is authorised or correct.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E15A0-0A98-4D99-95D1-602BD0CB3AEE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B.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1727DE-5A94-40AD-9A65-1A2037D55FA1}"/>
              </a:ext>
            </a:extLst>
          </p:cNvPr>
          <p:cNvSpPr>
            <a:spLocks noGrp="1"/>
          </p:cNvSpPr>
          <p:nvPr/>
        </p:nvSpPr>
        <p:spPr>
          <a:xfrm>
            <a:off x="1333500" y="376237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85C"/>
                </a:solidFill>
                <a:latin typeface="DejaVu Sans"/>
                <a:ea typeface="DejaVu Sans"/>
                <a:cs typeface="DejaVu Sans"/>
              </a:rPr>
              <a:t>Verify the production edit against acceptance criteria, accept or revert it deliberately, and complete required human review.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9D8613-1732-4764-B814-8F380B1641A0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1B7CEC-5D7F-4EC0-8068-6FBF6C275D33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Removing evidence prevents reviewers from assessing the actual change.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1CE43B-2FEA-402B-A839-D61C053A6C7B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552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452BF3-BB2A-4384-9BDD-FFF1CF103ABC}"/>
              </a:ext>
            </a:extLst>
          </p:cNvPr>
          <p:cNvSpPr>
            <a:spLocks noGrp="1"/>
          </p:cNvSpPr>
          <p:nvPr/>
        </p:nvSpPr>
        <p:spPr>
          <a:xfrm>
            <a:off x="1333500" y="519112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B4D"/>
                </a:solidFill>
                <a:latin typeface="DejaVu Sans"/>
                <a:ea typeface="DejaVu Sans"/>
                <a:cs typeface="DejaVu Sans"/>
              </a:rPr>
              <a:t>Human accountability and configured review policies remain necessary for the consequential merge decision.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BB4F0B-D207-4770-BC29-AAB38A5963D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57E"/>
                </a:solidFill>
                <a:latin typeface="DejaVu Sans"/>
                <a:ea typeface="DejaVu Sans"/>
                <a:cs typeface="DejaVu Sans"/>
              </a:rPr>
              <a:t>AZURE DEVOPS, CI/CD AND AI-ASSISTED RELEASE READINESS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C8446A-5AAE-403D-B57B-26046744DE5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67C5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239478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1952</Words>
  <Application>Microsoft Office PowerPoint</Application>
  <DocSecurity>0</DocSecurity>
  <PresentationFormat>Widescreen</PresentationFormat>
  <Paragraphs>270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Duraivelan Duraipazham</cp:lastModifiedBy>
  <cp:revision>1</cp:revision>
  <dcterms:created xsi:type="dcterms:W3CDTF">2026-10-30T07:11:20Z</dcterms:created>
  <dcterms:modified xsi:type="dcterms:W3CDTF">2026-10-30T10:24:52Z</dcterms:modified>
</cp:coreProperties>
</file>